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Rafael brings construction and local experience; John handles community and digital work. Their roles, the legal organization and the right to use each property need written agreements. This draft explains the plan and asks for partners; it does not offer an investment.</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Brazil’s 2022 Census counted about 16.4 million residents in favelas and urban communities, 8.1% of the population. That is national context, not a description of a selected family or site. Living in a favela does not itself mean being displaced. Listen to families about work, schools, transport, support networks and whether a move suits them. Participating households are not identified in this draft.</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30 November 2025 Rafael showed a US$21,883.86 construction calculation plus land, then the revised US$27,777 budget. Direct purchasing and shared costs form part of the plan. Thirty-six houses total US$999,972, with a proposed 12-month program. These are Rafael’s budget figures, not an index-published finished-home price. Track dates, included work, prices in reais and actual invoices.</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houses are still being planned. A family pays about 60% above the building cost over 15 years; each family’s monthly payment is agreed with it. How much of each payment would count towards buying it also remains to be agreed. Rafael’s village budget and the two-loft contract are construction cases, not household sale prices. Repair charges, hardship and exit terms remain open. The household explanation is at rent-to-own.html. Before building, the project needs documents showing the right to use the property, a budget and someone independent to inspect the work.</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Funding credited toward a family’s purchase is not a second receipt of cash. Funding paid by a buyer to a token seller normally goes to that seller, apart from separately collected fees. Funding locked in a trading market is not also available to build houses.</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a thousand houses does not itself show that the accounts balance. One-off grants can help construction but do not become continuing income. Any ongoing charge needs a real, affordable service under agreed terms.</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voting procedure, spending limits and way to question a decision have not been agreed with participants. In the proposed repair process, a resident reports a leak, a maintenance contact obtains a quote, spending follows the agreed limit and another person checks the work. Whatever a token vote decides, only the family and IMOBX together, under the law, can change a family’s housing agreement. See rent-to-own.html#decisions and governance.html.</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pilot, residents and the organization need to agree which matters each group decides, spending limits and how a decision can be reviewed. For example: a resident reports a leak, the maintenance role assesses it and obtains a quote, spending follows the agreed rule, and another person checks the repair and payment. Routine work should proceed within those limits without constant founder instructions. Residents need ways to choose and replace responsible people. The support channel would show requests, decisions and progress; software assistants could organize documents and reminders. Blockchain could show payment amounts and destinations. These tools follow the rules agreed by participants. The complete process still needs to be demonstrated in IMOBX.</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building a house only when its funding is secured. Residents take part as members, whether or not they hold tokens.</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stages are legal structure and property; resident participation; first houses; payment records people can check; funding and account review; more houses and owner partnerships. Rafael contributes construction and local knowledge; John contributes communication and digital coordination. Adviser, accounting, approval and independent inspection roles still need appointments. OLYMPUS is a possible builder connected to Rafael. Its appointment would need approval by someone independent of the builder. A community or charitable partner is a possible relationship. Construction dates depend on the chosen project, funding and permissions. A review after at least three operating months is proposed before expanding. The roadmap lists responsibilities and reasons to pause each stage.</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Agree response times and affordability targets with local participants. Report houses as planned, contracted, delivered or transferred, with checked records. Token prices and holder counts do not measure how well families are housed.</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possible contributions, not confirmed partnerships or contracts. The contact page has separate routes and explanations. There is no contact address yet: visitors can prepare and copy an introduction, but the website sends nothing. A property introduction can lead to assessment, not an automatic transfer. If a builder is connected to an IMOBX founder, someone independent must check the contract and completed work. See contact.html and rent-to-own.html#property.</a:t>
            </a:r>
          </a:p>
          <a:p/>
          <a:p>
            <a:r>
              <a:t>Sources and factual limits: companion whitepaper v0.8 and reference.html.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Families would rent toward owning their home</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IMOBX is preparing a first rent-to-own housing project in Rio.</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Local construction and clear family agreements.</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Residents help shape shared spaces and decisions.</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Current stage: planning, documents and design.</a:t>
            </a:r>
          </a:p>
        </p:txBody>
      </p:sp>
      <p:sp>
        <p:nvSpPr>
          <p:cNvPr id="12" name="TextBox 11"/>
          <p:cNvSpPr txBox="1"/>
          <p:nvPr/>
        </p:nvSpPr>
        <p:spPr>
          <a:xfrm>
            <a:off x="749808" y="5760720"/>
            <a:ext cx="10607040" cy="256032"/>
          </a:xfrm>
          <a:prstGeom prst="rect">
            <a:avLst/>
          </a:prstGeom>
          <a:noFill/>
        </p:spPr>
        <p:txBody>
          <a:bodyPr wrap="square" tIns="0" bIns="0" lIns="0" rIns="0">
            <a:spAutoFit/>
          </a:bodyPr>
          <a:lstStyle/>
          <a:p>
            <a:pPr>
              <a:defRPr sz="1100" b="0">
                <a:solidFill>
                  <a:srgbClr val="596772"/>
                </a:solidFill>
                <a:latin typeface="Arial"/>
              </a:defRPr>
            </a:pPr>
            <a:r>
              <a:t>Source: IMOBX resources and sources. Lists what exists and what is not decided, with a review date. It is the project's own record.</a:t>
            </a:r>
          </a:p>
        </p:txBody>
      </p:sp>
      <p:sp>
        <p:nvSpPr>
          <p:cNvPr id="13" name="TextBox 12"/>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4" name="TextBox 13"/>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Start with what a family needs</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The first project would help displaced families and people unable to use ordinary housing finance.</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Agree who can join and what payments are affordable.</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Explain repairs, payments and the path to buying the home.</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Make help and complaints easy to access.</a:t>
            </a:r>
          </a:p>
        </p:txBody>
      </p:sp>
      <p:sp>
        <p:nvSpPr>
          <p:cNvPr id="12" name="TextBox 11"/>
          <p:cNvSpPr txBox="1"/>
          <p:nvPr/>
        </p:nvSpPr>
        <p:spPr>
          <a:xfrm>
            <a:off x="749808" y="5760720"/>
            <a:ext cx="10607040" cy="256032"/>
          </a:xfrm>
          <a:prstGeom prst="rect">
            <a:avLst/>
          </a:prstGeom>
          <a:noFill/>
        </p:spPr>
        <p:txBody>
          <a:bodyPr wrap="square" tIns="0" bIns="0" lIns="0" rIns="0">
            <a:spAutoFit/>
          </a:bodyPr>
          <a:lstStyle/>
          <a:p>
            <a:pPr>
              <a:defRPr sz="1100" b="0">
                <a:solidFill>
                  <a:srgbClr val="596772"/>
                </a:solidFill>
                <a:latin typeface="Arial"/>
              </a:defRPr>
            </a:pPr>
            <a:r>
              <a:t>Source: UN-Habitat: adequate housing. Describes what adequate housing means. It does not assess IMOBX.</a:t>
            </a:r>
          </a:p>
        </p:txBody>
      </p:sp>
      <p:sp>
        <p:nvSpPr>
          <p:cNvPr id="13" name="TextBox 12"/>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4" name="TextBox 13"/>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Rafael has supplied a building budget</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His US$27,777 per-house plan uses CUB and SINAPI, Brazilian building-cost references.</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Land US$5,550 · construction US$18,600 · solar US$1,500.</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Shared works US$1,500 · design and legal work US$627.</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The village plan assumes at least 36 houses built together.</a:t>
            </a:r>
          </a:p>
        </p:txBody>
      </p:sp>
      <p:sp>
        <p:nvSpPr>
          <p:cNvPr id="12" name="TextBox 11"/>
          <p:cNvSpPr txBox="1"/>
          <p:nvPr/>
        </p:nvSpPr>
        <p:spPr>
          <a:xfrm>
            <a:off x="749808" y="5760720"/>
            <a:ext cx="10607040" cy="256032"/>
          </a:xfrm>
          <a:prstGeom prst="rect">
            <a:avLst/>
          </a:prstGeom>
          <a:noFill/>
        </p:spPr>
        <p:txBody>
          <a:bodyPr wrap="square" tIns="0" bIns="0" lIns="0" rIns="0">
            <a:spAutoFit/>
          </a:bodyPr>
          <a:lstStyle/>
          <a:p>
            <a:pPr>
              <a:defRPr sz="1100" b="0">
                <a:solidFill>
                  <a:srgbClr val="596772"/>
                </a:solidFill>
                <a:latin typeface="Arial"/>
              </a:defRPr>
            </a:pPr>
            <a:r>
              <a:t>Source: Whitepaper, section 3: the costs. Shows how Rafael supplied these figures.</a:t>
            </a:r>
          </a:p>
        </p:txBody>
      </p:sp>
      <p:sp>
        <p:nvSpPr>
          <p:cNvPr id="13" name="TextBox 12"/>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4" name="TextBox 13"/>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Part of each payment would go towards buying the home</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The household could see what it has paid towards the purchase and how much remains.</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The agreement sets the price and how much of each payment goes towards buying.</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The household can follow the amount paid and the remaining price.</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The whole house transfers to the household once the purchase terms are met.</a:t>
            </a:r>
          </a:p>
        </p:txBody>
      </p:sp>
      <p:sp>
        <p:nvSpPr>
          <p:cNvPr id="12" name="TextBox 11"/>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3" name="TextBox 12"/>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Show where each payment goes</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Keep rent, donations, grants, service income and trading fees separately identified.</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Pay taxes, repairs and agreed running costs.</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Keep funding for empty houses and promises made to families.</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Fund more houses; consider any permitted investor payments afterward.</a:t>
            </a:r>
          </a:p>
        </p:txBody>
      </p:sp>
      <p:sp>
        <p:nvSpPr>
          <p:cNvPr id="12" name="TextBox 11"/>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3" name="TextBox 12"/>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Pay today’s bills and plan the next houses</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Running the existing houses and building more need separate budgets.</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Check the budget with little or no trading income.</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Rent ends when the family becomes the home’s owner.</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Show how continuing income and new building funds will be found.</a:t>
            </a:r>
          </a:p>
        </p:txBody>
      </p:sp>
      <p:sp>
        <p:nvSpPr>
          <p:cNvPr id="12" name="TextBox 11"/>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3" name="TextBox 12"/>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Residents would decide how shared spaces are used</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Courtyard use, study-room hours, repair priorities and representatives are resident matters.</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One member, one vote, as Brazil’s cooperative law sets out.</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No investment purchase or promotional work would be required for a voice.</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Investor rights and each household’s contract have their own terms.</a:t>
            </a:r>
          </a:p>
        </p:txBody>
      </p:sp>
      <p:sp>
        <p:nvSpPr>
          <p:cNvPr id="12" name="TextBox 11"/>
          <p:cNvSpPr txBox="1"/>
          <p:nvPr/>
        </p:nvSpPr>
        <p:spPr>
          <a:xfrm>
            <a:off x="749808" y="5760720"/>
            <a:ext cx="10607040" cy="256032"/>
          </a:xfrm>
          <a:prstGeom prst="rect">
            <a:avLst/>
          </a:prstGeom>
          <a:noFill/>
        </p:spPr>
        <p:txBody>
          <a:bodyPr wrap="square" tIns="0" bIns="0" lIns="0" rIns="0">
            <a:spAutoFit/>
          </a:bodyPr>
          <a:lstStyle/>
          <a:p>
            <a:pPr>
              <a:defRPr sz="1100" b="0">
                <a:solidFill>
                  <a:srgbClr val="596772"/>
                </a:solidFill>
                <a:latin typeface="Arial"/>
              </a:defRPr>
            </a:pPr>
            <a:r>
              <a:t>Source: ICA: cooperative identity. States the principles of cooperatives, including member participation. It does not review IMOBX.</a:t>
            </a:r>
          </a:p>
        </p:txBody>
      </p:sp>
      <p:sp>
        <p:nvSpPr>
          <p:cNvPr id="13" name="TextBox 12"/>
          <p:cNvSpPr txBox="1"/>
          <p:nvPr/>
        </p:nvSpPr>
        <p:spPr>
          <a:xfrm>
            <a:off x="749808" y="6035040"/>
            <a:ext cx="10607040" cy="256032"/>
          </a:xfrm>
          <a:prstGeom prst="rect">
            <a:avLst/>
          </a:prstGeom>
          <a:noFill/>
        </p:spPr>
        <p:txBody>
          <a:bodyPr wrap="square" tIns="0" bIns="0" lIns="0" rIns="0">
            <a:spAutoFit/>
          </a:bodyPr>
          <a:lstStyle/>
          <a:p>
            <a:pPr>
              <a:defRPr sz="1100" b="0">
                <a:solidFill>
                  <a:srgbClr val="596772"/>
                </a:solidFill>
                <a:latin typeface="Arial"/>
              </a:defRPr>
            </a:pPr>
            <a:r>
              <a:t>Source: Elinor Ostrom: Nobel lecture. Is research on how communities manage shared resources. It does not test IMOBX's rules.</a:t>
            </a:r>
          </a:p>
        </p:txBody>
      </p:sp>
      <p:sp>
        <p:nvSpPr>
          <p:cNvPr id="14" name="TextBox 13"/>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5" name="TextBox 14"/>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From a request to checked work</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Agreed roles, spending limits and shared records keep everyday work moving.</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A resident raises an issue; a responsible person takes it forward.</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Someone else checks the work, payment and receipt.</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Open tasks and approvals are ready for whoever takes over.</a:t>
            </a:r>
          </a:p>
        </p:txBody>
      </p:sp>
      <p:sp>
        <p:nvSpPr>
          <p:cNvPr id="12" name="TextBox 11"/>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3" name="TextBox 12"/>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The token launches once it can be used</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We are examining how to introduce the IMOBX token in line with Brazilian law. It launches when holders can use it to reach the community’s services and goods.</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Volume: trading fees, paid in USDC, pay for checked work.</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Voting: holders vote on the token’s own rules; the cooperative keeps one member, one vote.</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Verify: in the plan, anyone can check each payment and who approved it.</a:t>
            </a:r>
          </a:p>
        </p:txBody>
      </p:sp>
      <p:sp>
        <p:nvSpPr>
          <p:cNvPr id="12" name="TextBox 11"/>
          <p:cNvSpPr txBox="1"/>
          <p:nvPr/>
        </p:nvSpPr>
        <p:spPr>
          <a:xfrm>
            <a:off x="749808" y="5760720"/>
            <a:ext cx="10607040" cy="256032"/>
          </a:xfrm>
          <a:prstGeom prst="rect">
            <a:avLst/>
          </a:prstGeom>
          <a:noFill/>
        </p:spPr>
        <p:txBody>
          <a:bodyPr wrap="square" tIns="0" bIns="0" lIns="0" rIns="0">
            <a:spAutoFit/>
          </a:bodyPr>
          <a:lstStyle/>
          <a:p>
            <a:pPr>
              <a:defRPr sz="1100" b="0">
                <a:solidFill>
                  <a:srgbClr val="596772"/>
                </a:solidFill>
                <a:latin typeface="Arial"/>
              </a:defRPr>
            </a:pPr>
            <a:r>
              <a:t>Source: CVM Guidance Opinion 40. Says Brazil's regulator looks at what an investment actually gives, not its name.</a:t>
            </a:r>
          </a:p>
        </p:txBody>
      </p:sp>
      <p:sp>
        <p:nvSpPr>
          <p:cNvPr id="13" name="TextBox 12"/>
          <p:cNvSpPr txBox="1"/>
          <p:nvPr/>
        </p:nvSpPr>
        <p:spPr>
          <a:xfrm>
            <a:off x="749808" y="6035040"/>
            <a:ext cx="10607040" cy="256032"/>
          </a:xfrm>
          <a:prstGeom prst="rect">
            <a:avLst/>
          </a:prstGeom>
          <a:noFill/>
        </p:spPr>
        <p:txBody>
          <a:bodyPr wrap="square" tIns="0" bIns="0" lIns="0" rIns="0">
            <a:spAutoFit/>
          </a:bodyPr>
          <a:lstStyle/>
          <a:p>
            <a:pPr>
              <a:defRPr sz="1100" b="0">
                <a:solidFill>
                  <a:srgbClr val="596772"/>
                </a:solidFill>
                <a:latin typeface="Arial"/>
              </a:defRPr>
            </a:pPr>
            <a:r>
              <a:t>Source: IMOBX: the token, on the distributed ledger page. Sets out the token’s four functions as the project describes them.</a:t>
            </a:r>
          </a:p>
        </p:txBody>
      </p:sp>
      <p:sp>
        <p:nvSpPr>
          <p:cNvPr id="14" name="TextBox 13"/>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5" name="TextBox 14"/>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Each stage needs evidence before it advances</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The roadmap names proposed roles and conditions for proceeding.</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Property rights, household terms and budgets underpin the first houses.</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Digital payment trials and token research can progress alongside them.</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Expansion follows operating results and funding for existing commitments.</a:t>
            </a:r>
          </a:p>
        </p:txBody>
      </p:sp>
      <p:sp>
        <p:nvSpPr>
          <p:cNvPr id="12" name="TextBox 11"/>
          <p:cNvSpPr txBox="1"/>
          <p:nvPr/>
        </p:nvSpPr>
        <p:spPr>
          <a:xfrm>
            <a:off x="749808" y="5760720"/>
            <a:ext cx="10607040" cy="256032"/>
          </a:xfrm>
          <a:prstGeom prst="rect">
            <a:avLst/>
          </a:prstGeom>
          <a:noFill/>
        </p:spPr>
        <p:txBody>
          <a:bodyPr wrap="square" tIns="0" bIns="0" lIns="0" rIns="0">
            <a:spAutoFit/>
          </a:bodyPr>
          <a:lstStyle/>
          <a:p>
            <a:pPr>
              <a:defRPr sz="1100" b="0">
                <a:solidFill>
                  <a:srgbClr val="596772"/>
                </a:solidFill>
                <a:latin typeface="Arial"/>
              </a:defRPr>
            </a:pPr>
            <a:r>
              <a:t>Source: IMOBX project stages. Sets out the stages and what must be ready in each. It sets no dates.</a:t>
            </a:r>
          </a:p>
        </p:txBody>
      </p:sp>
      <p:sp>
        <p:nvSpPr>
          <p:cNvPr id="13" name="TextBox 12"/>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4" name="TextBox 13"/>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Measure houses and promises kept</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Follow actual costs, accounts and families’ experience.</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Check completed work, final cost and delays.</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Check funding received and paid against the records; report repairs and unresolved issues.</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Show participation and progress toward owning the home.</a:t>
            </a:r>
          </a:p>
        </p:txBody>
      </p:sp>
      <p:sp>
        <p:nvSpPr>
          <p:cNvPr id="12" name="TextBox 11"/>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3" name="TextBox 12"/>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94360" y="566928"/>
            <a:ext cx="64008" cy="182880"/>
          </a:xfrm>
          <a:prstGeom prst="rect">
            <a:avLst/>
          </a:prstGeom>
          <a:solidFill>
            <a:srgbClr val="276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obx-logo-light.png"/>
          <p:cNvPicPr>
            <a:picLocks noChangeAspect="1"/>
          </p:cNvPicPr>
          <p:nvPr/>
        </p:nvPicPr>
        <p:blipFill>
          <a:blip r:embed="rId2"/>
          <a:stretch>
            <a:fillRect/>
          </a:stretch>
        </p:blipFill>
        <p:spPr>
          <a:xfrm>
            <a:off x="10607040" y="73152"/>
            <a:ext cx="868680" cy="868680"/>
          </a:xfrm>
          <a:prstGeom prst="rect">
            <a:avLst/>
          </a:prstGeom>
        </p:spPr>
      </p:pic>
      <p:sp>
        <p:nvSpPr>
          <p:cNvPr id="4" name="TextBox 3"/>
          <p:cNvSpPr txBox="1"/>
          <p:nvPr/>
        </p:nvSpPr>
        <p:spPr>
          <a:xfrm>
            <a:off x="731520" y="1069848"/>
            <a:ext cx="10698480" cy="1554480"/>
          </a:xfrm>
          <a:prstGeom prst="rect">
            <a:avLst/>
          </a:prstGeom>
          <a:noFill/>
        </p:spPr>
        <p:txBody>
          <a:bodyPr wrap="square" tIns="0" bIns="0" lIns="0" rIns="0">
            <a:spAutoFit/>
          </a:bodyPr>
          <a:lstStyle/>
          <a:p>
            <a:pPr>
              <a:defRPr sz="4000" b="0">
                <a:solidFill>
                  <a:srgbClr val="193D4E"/>
                </a:solidFill>
                <a:latin typeface="Arial"/>
              </a:defRPr>
            </a:pPr>
            <a:r>
              <a:t>One property can become a project to assess</a:t>
            </a:r>
          </a:p>
        </p:txBody>
      </p:sp>
      <p:sp>
        <p:nvSpPr>
          <p:cNvPr id="5" name="TextBox 4"/>
          <p:cNvSpPr txBox="1"/>
          <p:nvPr/>
        </p:nvSpPr>
        <p:spPr>
          <a:xfrm>
            <a:off x="749808" y="2770632"/>
            <a:ext cx="10607040" cy="914400"/>
          </a:xfrm>
          <a:prstGeom prst="rect">
            <a:avLst/>
          </a:prstGeom>
          <a:noFill/>
        </p:spPr>
        <p:txBody>
          <a:bodyPr wrap="square" tIns="0" bIns="0" lIns="0" rIns="0">
            <a:spAutoFit/>
          </a:bodyPr>
          <a:lstStyle/>
          <a:p>
            <a:pPr>
              <a:defRPr sz="2100" b="0">
                <a:solidFill>
                  <a:srgbClr val="596772"/>
                </a:solidFill>
                <a:latin typeface="Arial"/>
              </a:defRPr>
            </a:pPr>
            <a:r>
              <a:t>An owner, building team, local organization and funder could develop a costed proposal together.</a:t>
            </a:r>
          </a:p>
        </p:txBody>
      </p:sp>
      <p:sp>
        <p:nvSpPr>
          <p:cNvPr id="6" name="TextBox 5"/>
          <p:cNvSpPr txBox="1"/>
          <p:nvPr/>
        </p:nvSpPr>
        <p:spPr>
          <a:xfrm>
            <a:off x="749808" y="3886200"/>
            <a:ext cx="384048" cy="320040"/>
          </a:xfrm>
          <a:prstGeom prst="rect">
            <a:avLst/>
          </a:prstGeom>
          <a:noFill/>
        </p:spPr>
        <p:txBody>
          <a:bodyPr wrap="square" tIns="0" bIns="0" lIns="0" rIns="0">
            <a:spAutoFit/>
          </a:bodyPr>
          <a:lstStyle/>
          <a:p>
            <a:pPr>
              <a:defRPr sz="1100" b="1">
                <a:solidFill>
                  <a:srgbClr val="276578"/>
                </a:solidFill>
                <a:latin typeface="Arial"/>
              </a:defRPr>
            </a:pPr>
            <a:r>
              <a:t>01</a:t>
            </a:r>
          </a:p>
        </p:txBody>
      </p:sp>
      <p:sp>
        <p:nvSpPr>
          <p:cNvPr id="7" name="TextBox 6"/>
          <p:cNvSpPr txBox="1"/>
          <p:nvPr/>
        </p:nvSpPr>
        <p:spPr>
          <a:xfrm>
            <a:off x="1234440" y="3840480"/>
            <a:ext cx="10058400" cy="594360"/>
          </a:xfrm>
          <a:prstGeom prst="rect">
            <a:avLst/>
          </a:prstGeom>
          <a:noFill/>
        </p:spPr>
        <p:txBody>
          <a:bodyPr wrap="square" tIns="0" bIns="0" lIns="0" rIns="0">
            <a:spAutoFit/>
          </a:bodyPr>
          <a:lstStyle/>
          <a:p>
            <a:pPr>
              <a:defRPr sz="1800" b="0">
                <a:solidFill>
                  <a:srgbClr val="193D4E"/>
                </a:solidFill>
                <a:latin typeface="Arial"/>
              </a:defRPr>
            </a:pPr>
            <a:r>
              <a:t>Owners: property, condition and donation, sale or lease terms.</a:t>
            </a:r>
          </a:p>
        </p:txBody>
      </p:sp>
      <p:sp>
        <p:nvSpPr>
          <p:cNvPr id="8" name="TextBox 7"/>
          <p:cNvSpPr txBox="1"/>
          <p:nvPr/>
        </p:nvSpPr>
        <p:spPr>
          <a:xfrm>
            <a:off x="749808" y="4553712"/>
            <a:ext cx="384048" cy="320040"/>
          </a:xfrm>
          <a:prstGeom prst="rect">
            <a:avLst/>
          </a:prstGeom>
          <a:noFill/>
        </p:spPr>
        <p:txBody>
          <a:bodyPr wrap="square" tIns="0" bIns="0" lIns="0" rIns="0">
            <a:spAutoFit/>
          </a:bodyPr>
          <a:lstStyle/>
          <a:p>
            <a:pPr>
              <a:defRPr sz="1100" b="1">
                <a:solidFill>
                  <a:srgbClr val="276578"/>
                </a:solidFill>
                <a:latin typeface="Arial"/>
              </a:defRPr>
            </a:pPr>
            <a:r>
              <a:t>02</a:t>
            </a:r>
          </a:p>
        </p:txBody>
      </p:sp>
      <p:sp>
        <p:nvSpPr>
          <p:cNvPr id="9" name="TextBox 8"/>
          <p:cNvSpPr txBox="1"/>
          <p:nvPr/>
        </p:nvSpPr>
        <p:spPr>
          <a:xfrm>
            <a:off x="1234440" y="4507992"/>
            <a:ext cx="10058400" cy="594360"/>
          </a:xfrm>
          <a:prstGeom prst="rect">
            <a:avLst/>
          </a:prstGeom>
          <a:noFill/>
        </p:spPr>
        <p:txBody>
          <a:bodyPr wrap="square" tIns="0" bIns="0" lIns="0" rIns="0">
            <a:spAutoFit/>
          </a:bodyPr>
          <a:lstStyle/>
          <a:p>
            <a:pPr>
              <a:defRPr sz="1800" b="0">
                <a:solidFill>
                  <a:srgbClr val="193D4E"/>
                </a:solidFill>
                <a:latin typeface="Arial"/>
              </a:defRPr>
            </a:pPr>
            <a:r>
              <a:t>Builders and funders: costed work, funding purpose and commitments.</a:t>
            </a:r>
          </a:p>
        </p:txBody>
      </p:sp>
      <p:sp>
        <p:nvSpPr>
          <p:cNvPr id="10" name="TextBox 9"/>
          <p:cNvSpPr txBox="1"/>
          <p:nvPr/>
        </p:nvSpPr>
        <p:spPr>
          <a:xfrm>
            <a:off x="749808" y="5221224"/>
            <a:ext cx="384048" cy="320040"/>
          </a:xfrm>
          <a:prstGeom prst="rect">
            <a:avLst/>
          </a:prstGeom>
          <a:noFill/>
        </p:spPr>
        <p:txBody>
          <a:bodyPr wrap="square" tIns="0" bIns="0" lIns="0" rIns="0">
            <a:spAutoFit/>
          </a:bodyPr>
          <a:lstStyle/>
          <a:p>
            <a:pPr>
              <a:defRPr sz="1100" b="1">
                <a:solidFill>
                  <a:srgbClr val="276578"/>
                </a:solidFill>
                <a:latin typeface="Arial"/>
              </a:defRPr>
            </a:pPr>
            <a:r>
              <a:t>03</a:t>
            </a:r>
          </a:p>
        </p:txBody>
      </p:sp>
      <p:sp>
        <p:nvSpPr>
          <p:cNvPr id="11" name="TextBox 10"/>
          <p:cNvSpPr txBox="1"/>
          <p:nvPr/>
        </p:nvSpPr>
        <p:spPr>
          <a:xfrm>
            <a:off x="1234440" y="5175504"/>
            <a:ext cx="10058400" cy="594360"/>
          </a:xfrm>
          <a:prstGeom prst="rect">
            <a:avLst/>
          </a:prstGeom>
          <a:noFill/>
        </p:spPr>
        <p:txBody>
          <a:bodyPr wrap="square" tIns="0" bIns="0" lIns="0" rIns="0">
            <a:spAutoFit/>
          </a:bodyPr>
          <a:lstStyle/>
          <a:p>
            <a:pPr>
              <a:defRPr sz="1800" b="0">
                <a:solidFill>
                  <a:srgbClr val="193D4E"/>
                </a:solidFill>
                <a:latin typeface="Arial"/>
              </a:defRPr>
            </a:pPr>
            <a:r>
              <a:t>Households: affordable terms, location, repairs and resident decisions.</a:t>
            </a:r>
          </a:p>
        </p:txBody>
      </p:sp>
      <p:sp>
        <p:nvSpPr>
          <p:cNvPr id="12" name="TextBox 11"/>
          <p:cNvSpPr txBox="1"/>
          <p:nvPr/>
        </p:nvSpPr>
        <p:spPr>
          <a:xfrm>
            <a:off x="749808" y="6437376"/>
            <a:ext cx="9144000" cy="182880"/>
          </a:xfrm>
          <a:prstGeom prst="rect">
            <a:avLst/>
          </a:prstGeom>
          <a:noFill/>
        </p:spPr>
        <p:txBody>
          <a:bodyPr wrap="square" tIns="0" bIns="0" lIns="0" rIns="0">
            <a:spAutoFit/>
          </a:bodyPr>
          <a:lstStyle/>
          <a:p>
            <a:pPr>
              <a:defRPr sz="900" b="0">
                <a:solidFill>
                  <a:srgbClr val="596772"/>
                </a:solidFill>
                <a:latin typeface="Arial"/>
              </a:defRPr>
            </a:pPr>
            <a:r>
              <a:t>IMOBX / PARTNER DISCUSSION DRAFT / Version 0.8, 24 October 2026</a:t>
            </a:r>
          </a:p>
        </p:txBody>
      </p:sp>
      <p:sp>
        <p:nvSpPr>
          <p:cNvPr id="13" name="TextBox 12"/>
          <p:cNvSpPr txBox="1"/>
          <p:nvPr/>
        </p:nvSpPr>
        <p:spPr>
          <a:xfrm>
            <a:off x="10607040" y="6437376"/>
            <a:ext cx="914400" cy="182880"/>
          </a:xfrm>
          <a:prstGeom prst="rect">
            <a:avLst/>
          </a:prstGeom>
          <a:noFill/>
        </p:spPr>
        <p:txBody>
          <a:bodyPr wrap="square" tIns="0" bIns="0" lIns="0" rIns="0">
            <a:spAutoFit/>
          </a:bodyPr>
          <a:lstStyle/>
          <a:p>
            <a:pPr>
              <a:defRPr sz="900" b="0">
                <a:solidFill>
                  <a:srgbClr val="596772"/>
                </a:solidFill>
                <a:latin typeface="Arial"/>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IMOBX | Partner discussion draft</dc:title>
  <dc:subject>Proposed Rio rent-to-own housing pilot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