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Rafael brings construction and local experience; John handles community and digital work. Their roles, the legal organization and the right to use each property need written agreements. This draft explains the plan and asks for partners; it does not offer an investment.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Brazil’s 2022 Census counted about 16.4 million residents in favelas and urban communities, 8.1% of the population. That is national context, not a description of a selected family or site. Living in a favela does not itself mean being displaced. Listen to families about work, schools, transport, support networks and whether a move suits them. No pilot families are claimed as enrolled.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30 November 2025 Rafael showed a US$21,883.86 construction calculation plus land, then the revised US$27,777 budget. Direct purchasing and shared costs form part of the plan. Thirty-six homes total US$999,972, with a proposed 12-month program. These are Rafael’s budget figures, not an index-published finished-home price. Track dates, included work, prices in reais and actual invoices. The separate January contract is US$27,777 for both lofts together.</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promise to donate is different from a completed property transfer. A founder linked to the builder should not approve its own bill. Brazilian advisers need to review the property and legal arrangement. A token does not replace title registration.</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old percentage split is agreed. Money credited toward a family’s purchase is not a second receipt of cash. Money paid by a buyer to a token seller normally goes to that seller, apart from separately collected fees. Money locked in a trading market is not also available to build homes.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a thousand homes does not itself show that the accounts balance. One-off grants can help construction but do not become continuing income. Any ongoing charge needs a real, affordable service under agreed terms. Reviews after three or six years are not promises of payouts.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option is equal member voice in resident matters, elected people responsible for work, and investor rights limited to the written investment agreement. Buying tokens would not buy membership or control over every housing decision. Ostrom’s ideas help us ask who participates, who checks and how disputes are resolved. These are proposed rules to agree. Online activity and scores do not decide housing rights.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Hive DAO is the operating model. The aim is for work to continue without constant founder instructions, with room to disagree and ask for review. For example: report a leak, assess it, approve a repair, check delivery and payment, then leave the record ready for the next person. The plan combines Ostrom’s ideas, agents written in Python, Arc payments and possible Arctide project fees. The complete process still needs to be built and demonstrated in IMOBX. The Flock can serve other projects too; other trading apps need their own integration checks.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nonprofit idea keeps resources serving housing. Under Law 13.019’s definition for public-sector partnerships, nonprofits use results for their social purpose. A nonprofit cannot simply promise those results as investor dividends. Brazilian advisers need to review any other permitted investment arrangement. No supply, return rate, sale date or resident token plan is agreed. The token’s name does not decide its legal treatment.</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preparation targets from an agreed start, not promised building dates. Construction needs property, funding and permissions. Follow at least three operating months before the first expansion review. Website v1 explains the plan; v2 reports real building and accounts without needing a token. Any later token access follows agreed rights and checked legal and payment arrangements.</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response times and affordability targets with local participants. Report homes as planned, contracted, delivered or transferred, with checked records. Token prices and holder counts do not measure how well families are housed. No completed transfers or committed capital are invented here.</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Agree the specific work, responsible people and dates with each partner. This draft does not ask readers to buy a token or promise a funding award. The paper and pilot guide give the calculations, sources and decisions still needed.</a:t>
            </a:r>
          </a:p>
          <a:p/>
          <a:p>
            <a:r>
              <a:t>Sources and factual limits: companion whitepaper v0.2.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01 / THE PROJECT</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Rent a home. Work toward owning it.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is preparing a first rent-to-own housing project in Rio.</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Local construction and clear family agreements.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shape shared spaces and decisions.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Current stage: planning, documents and design.</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02 / THE PEOPLE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Start with what a family needs.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first project would help displaced families and people unable to use ordinary housing finance.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Agree who can join and what payments are affordable.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repairs, payments and the path to buying the home.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Make help and complaints easy to access.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03 / DELIVERY KNOWLEDGE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Rafael has supplied a building budget.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His US$27,777 per-home plan uses CUB and SINAPI, Brazilian building-cost references.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Land US$5,550 · construction US$18,600 · solar US$1,500.</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Shared works US$1,500 · design and legal work US$627.</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village plan assumes at least 36 homes built together.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04 / THE OPERATING MODEL</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Put the home and responsibilities in writing.</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IMOBX would arrange property access, family agreements and building work.</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who owns the property and how IMOBX may use it.</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Agree the builder’s work, price, deadline and who checks it.</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Explain payments, purchase progress and the final transfer.</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05 / MONEY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Show where each payment goes.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Keep rent, donations, grants, service income and trading fees separately identified.</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Pay taxes, repairs and agreed running costs.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Keep money for empty homes and commitments to families.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more homes; consider any permitted investor payments afterward.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06 / CONTINUITY</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Pay today’s bills. Plan the next homes.</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Running the existing homes and building more need separate budgets.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the budget with little or no trading income.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Rent ends when the family becomes the home’s owner.</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how continuing income and new building funds will be found.</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07 / RESIDENT VOICE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Give residents a real say.</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Discuss which decisions belong to residents, workers and possible investors.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Residents help decide how shared spaces and repairs work.</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People chosen for work have time limits and can be replaced.</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Housing and purchase rights stay protected by agreements and law.</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08 / DIGITAL TOOLS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Make fair cooperation easier.</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SIAH Protocol is the brand. Hive DAO is how we aim to share responsibility.</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See what needs doing, choose work and leave useful records.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Software agents help track people, wallets, tasks and approvals.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The Flock is the Telegram bot; Arc and Arctide are possible payment tools.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09 / TOKEN DECISION</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Decide what a token would actually give.</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A community membership record and an investment do different jobs.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Choose the legal form and keep donations for their agreed purpose.</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Explain who owes what, where payment money comes from and how to leave.</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Using money to build more homes does not automatically raise a token’s price.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09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10 / THE ROADMAP</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Prepare, test, then decide the next step.</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The roadmap links homes, money, shared decisions and digital tools.</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Days 1–30: roles, property, budget and family discussions.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Days 31–60: money rules and worked examples; day 90: readiness decision.</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Fund the pilot, follow results and test with another local team.</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11 / PILOT EVIDENCE</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Measure homes and promises kept.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Follow actual costs, accounts and families’ experience.</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Check completed work, final cost and delays.</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Match every receipt and payment; report repairs and unresolved issues.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Show participation and progress toward owning the home.</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94360" y="566928"/>
            <a:ext cx="64008" cy="182880"/>
          </a:xfrm>
          <a:prstGeom prst="rect">
            <a:avLst/>
          </a:prstGeom>
          <a:solidFill>
            <a:srgbClr val="4A90A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obx-logo-light.png"/>
          <p:cNvPicPr>
            <a:picLocks noChangeAspect="1"/>
          </p:cNvPicPr>
          <p:nvPr/>
        </p:nvPicPr>
        <p:blipFill>
          <a:blip r:embed="rId2"/>
          <a:stretch>
            <a:fillRect/>
          </a:stretch>
        </p:blipFill>
        <p:spPr>
          <a:xfrm>
            <a:off x="10607040" y="73152"/>
            <a:ext cx="868680" cy="868680"/>
          </a:xfrm>
          <a:prstGeom prst="rect">
            <a:avLst/>
          </a:prstGeom>
        </p:spPr>
      </p:pic>
      <p:sp>
        <p:nvSpPr>
          <p:cNvPr id="4" name="TextBox 3"/>
          <p:cNvSpPr txBox="1"/>
          <p:nvPr/>
        </p:nvSpPr>
        <p:spPr>
          <a:xfrm>
            <a:off x="822960" y="548640"/>
            <a:ext cx="9144000" cy="320040"/>
          </a:xfrm>
          <a:prstGeom prst="rect">
            <a:avLst/>
          </a:prstGeom>
          <a:noFill/>
        </p:spPr>
        <p:txBody>
          <a:bodyPr wrap="square" tIns="0" bIns="0" lIns="0" rIns="0">
            <a:spAutoFit/>
          </a:bodyPr>
          <a:lstStyle/>
          <a:p>
            <a:pPr>
              <a:defRPr sz="1100" b="1">
                <a:solidFill>
                  <a:srgbClr val="4A90A4"/>
                </a:solidFill>
                <a:latin typeface="Arial"/>
              </a:defRPr>
            </a:pPr>
            <a:r>
              <a:t>12 / NEXT PARTNERS</a:t>
            </a:r>
          </a:p>
        </p:txBody>
      </p:sp>
      <p:sp>
        <p:nvSpPr>
          <p:cNvPr id="5" name="TextBox 4"/>
          <p:cNvSpPr txBox="1"/>
          <p:nvPr/>
        </p:nvSpPr>
        <p:spPr>
          <a:xfrm>
            <a:off x="731520" y="1069848"/>
            <a:ext cx="10698480" cy="1554480"/>
          </a:xfrm>
          <a:prstGeom prst="rect">
            <a:avLst/>
          </a:prstGeom>
          <a:noFill/>
        </p:spPr>
        <p:txBody>
          <a:bodyPr wrap="square" tIns="0" bIns="0" lIns="0" rIns="0">
            <a:spAutoFit/>
          </a:bodyPr>
          <a:lstStyle/>
          <a:p>
            <a:pPr>
              <a:defRPr sz="4000" b="0">
                <a:solidFill>
                  <a:srgbClr val="1A1A1A"/>
                </a:solidFill>
                <a:latin typeface="Arial"/>
              </a:defRPr>
            </a:pPr>
            <a:r>
              <a:t>Help prepare the first project.</a:t>
            </a:r>
          </a:p>
        </p:txBody>
      </p:sp>
      <p:sp>
        <p:nvSpPr>
          <p:cNvPr id="6" name="TextBox 5"/>
          <p:cNvSpPr txBox="1"/>
          <p:nvPr/>
        </p:nvSpPr>
        <p:spPr>
          <a:xfrm>
            <a:off x="749808" y="2770632"/>
            <a:ext cx="10607040" cy="914400"/>
          </a:xfrm>
          <a:prstGeom prst="rect">
            <a:avLst/>
          </a:prstGeom>
          <a:noFill/>
        </p:spPr>
        <p:txBody>
          <a:bodyPr wrap="square" tIns="0" bIns="0" lIns="0" rIns="0">
            <a:spAutoFit/>
          </a:bodyPr>
          <a:lstStyle/>
          <a:p>
            <a:pPr>
              <a:defRPr sz="2100" b="0">
                <a:solidFill>
                  <a:srgbClr val="596772"/>
                </a:solidFill>
                <a:latin typeface="Arial"/>
              </a:defRPr>
            </a:pPr>
            <a:r>
              <a:t>We need people who can check the homes, agreements and budget.</a:t>
            </a:r>
          </a:p>
        </p:txBody>
      </p:sp>
      <p:sp>
        <p:nvSpPr>
          <p:cNvPr id="7" name="TextBox 6"/>
          <p:cNvSpPr txBox="1"/>
          <p:nvPr/>
        </p:nvSpPr>
        <p:spPr>
          <a:xfrm>
            <a:off x="749808" y="3886200"/>
            <a:ext cx="384048" cy="320040"/>
          </a:xfrm>
          <a:prstGeom prst="rect">
            <a:avLst/>
          </a:prstGeom>
          <a:noFill/>
        </p:spPr>
        <p:txBody>
          <a:bodyPr wrap="square" tIns="0" bIns="0" lIns="0" rIns="0">
            <a:spAutoFit/>
          </a:bodyPr>
          <a:lstStyle/>
          <a:p>
            <a:pPr>
              <a:defRPr sz="1100" b="1">
                <a:solidFill>
                  <a:srgbClr val="4A90A4"/>
                </a:solidFill>
                <a:latin typeface="Arial"/>
              </a:defRPr>
            </a:pPr>
            <a:r>
              <a:t>01</a:t>
            </a:r>
          </a:p>
        </p:txBody>
      </p:sp>
      <p:sp>
        <p:nvSpPr>
          <p:cNvPr id="8" name="TextBox 7"/>
          <p:cNvSpPr txBox="1"/>
          <p:nvPr/>
        </p:nvSpPr>
        <p:spPr>
          <a:xfrm>
            <a:off x="1234440" y="3840480"/>
            <a:ext cx="10058400" cy="594360"/>
          </a:xfrm>
          <a:prstGeom prst="rect">
            <a:avLst/>
          </a:prstGeom>
          <a:noFill/>
        </p:spPr>
        <p:txBody>
          <a:bodyPr wrap="square" tIns="0" bIns="0" lIns="0" rIns="0">
            <a:spAutoFit/>
          </a:bodyPr>
          <a:lstStyle/>
          <a:p>
            <a:pPr>
              <a:defRPr sz="1800" b="0">
                <a:solidFill>
                  <a:srgbClr val="1A1A1A"/>
                </a:solidFill>
                <a:latin typeface="Arial"/>
              </a:defRPr>
            </a:pPr>
            <a:r>
              <a:t>Building partners: confirm the work, property access, costs and timing.</a:t>
            </a:r>
          </a:p>
        </p:txBody>
      </p:sp>
      <p:sp>
        <p:nvSpPr>
          <p:cNvPr id="9" name="TextBox 8"/>
          <p:cNvSpPr txBox="1"/>
          <p:nvPr/>
        </p:nvSpPr>
        <p:spPr>
          <a:xfrm>
            <a:off x="749808" y="4553712"/>
            <a:ext cx="384048" cy="320040"/>
          </a:xfrm>
          <a:prstGeom prst="rect">
            <a:avLst/>
          </a:prstGeom>
          <a:noFill/>
        </p:spPr>
        <p:txBody>
          <a:bodyPr wrap="square" tIns="0" bIns="0" lIns="0" rIns="0">
            <a:spAutoFit/>
          </a:bodyPr>
          <a:lstStyle/>
          <a:p>
            <a:pPr>
              <a:defRPr sz="1100" b="1">
                <a:solidFill>
                  <a:srgbClr val="4A90A4"/>
                </a:solidFill>
                <a:latin typeface="Arial"/>
              </a:defRPr>
            </a:pPr>
            <a:r>
              <a:t>02</a:t>
            </a:r>
          </a:p>
        </p:txBody>
      </p:sp>
      <p:sp>
        <p:nvSpPr>
          <p:cNvPr id="10" name="TextBox 9"/>
          <p:cNvSpPr txBox="1"/>
          <p:nvPr/>
        </p:nvSpPr>
        <p:spPr>
          <a:xfrm>
            <a:off x="1234440" y="4507992"/>
            <a:ext cx="10058400" cy="594360"/>
          </a:xfrm>
          <a:prstGeom prst="rect">
            <a:avLst/>
          </a:prstGeom>
          <a:noFill/>
        </p:spPr>
        <p:txBody>
          <a:bodyPr wrap="square" tIns="0" bIns="0" lIns="0" rIns="0">
            <a:spAutoFit/>
          </a:bodyPr>
          <a:lstStyle/>
          <a:p>
            <a:pPr>
              <a:defRPr sz="1800" b="0">
                <a:solidFill>
                  <a:srgbClr val="1A1A1A"/>
                </a:solidFill>
                <a:latin typeface="Arial"/>
              </a:defRPr>
            </a:pPr>
            <a:r>
              <a:t>Housing, accounting and legal advisers: review agreements and money rules.</a:t>
            </a:r>
          </a:p>
        </p:txBody>
      </p:sp>
      <p:sp>
        <p:nvSpPr>
          <p:cNvPr id="11" name="TextBox 10"/>
          <p:cNvSpPr txBox="1"/>
          <p:nvPr/>
        </p:nvSpPr>
        <p:spPr>
          <a:xfrm>
            <a:off x="749808" y="5221224"/>
            <a:ext cx="384048" cy="320040"/>
          </a:xfrm>
          <a:prstGeom prst="rect">
            <a:avLst/>
          </a:prstGeom>
          <a:noFill/>
        </p:spPr>
        <p:txBody>
          <a:bodyPr wrap="square" tIns="0" bIns="0" lIns="0" rIns="0">
            <a:spAutoFit/>
          </a:bodyPr>
          <a:lstStyle/>
          <a:p>
            <a:pPr>
              <a:defRPr sz="1100" b="1">
                <a:solidFill>
                  <a:srgbClr val="4A90A4"/>
                </a:solidFill>
                <a:latin typeface="Arial"/>
              </a:defRPr>
            </a:pPr>
            <a:r>
              <a:t>03</a:t>
            </a:r>
          </a:p>
        </p:txBody>
      </p:sp>
      <p:sp>
        <p:nvSpPr>
          <p:cNvPr id="12" name="TextBox 11"/>
          <p:cNvSpPr txBox="1"/>
          <p:nvPr/>
        </p:nvSpPr>
        <p:spPr>
          <a:xfrm>
            <a:off x="1234440" y="5175504"/>
            <a:ext cx="10058400" cy="594360"/>
          </a:xfrm>
          <a:prstGeom prst="rect">
            <a:avLst/>
          </a:prstGeom>
          <a:noFill/>
        </p:spPr>
        <p:txBody>
          <a:bodyPr wrap="square" tIns="0" bIns="0" lIns="0" rIns="0">
            <a:spAutoFit/>
          </a:bodyPr>
          <a:lstStyle/>
          <a:p>
            <a:pPr>
              <a:defRPr sz="1800" b="0">
                <a:solidFill>
                  <a:srgbClr val="1A1A1A"/>
                </a:solidFill>
                <a:latin typeface="Arial"/>
              </a:defRPr>
            </a:pPr>
            <a:r>
              <a:t>Families and community partners: test the information and help process.</a:t>
            </a:r>
          </a:p>
        </p:txBody>
      </p:sp>
      <p:sp>
        <p:nvSpPr>
          <p:cNvPr id="13" name="TextBox 12"/>
          <p:cNvSpPr txBox="1"/>
          <p:nvPr/>
        </p:nvSpPr>
        <p:spPr>
          <a:xfrm>
            <a:off x="749808" y="6437376"/>
            <a:ext cx="9144000" cy="182880"/>
          </a:xfrm>
          <a:prstGeom prst="rect">
            <a:avLst/>
          </a:prstGeom>
          <a:noFill/>
        </p:spPr>
        <p:txBody>
          <a:bodyPr wrap="square" tIns="0" bIns="0" lIns="0" rIns="0">
            <a:spAutoFit/>
          </a:bodyPr>
          <a:lstStyle/>
          <a:p>
            <a:pPr>
              <a:defRPr sz="900" b="0">
                <a:solidFill>
                  <a:srgbClr val="596772"/>
                </a:solidFill>
                <a:latin typeface="Arial"/>
              </a:defRPr>
            </a:pPr>
            <a:r>
              <a:t>IMOBX / PARTNER DISCUSSION DRAFT / 15 OCT 2026</a:t>
            </a:r>
          </a:p>
        </p:txBody>
      </p:sp>
      <p:sp>
        <p:nvSpPr>
          <p:cNvPr id="14" name="TextBox 13"/>
          <p:cNvSpPr txBox="1"/>
          <p:nvPr/>
        </p:nvSpPr>
        <p:spPr>
          <a:xfrm>
            <a:off x="10607040" y="6437376"/>
            <a:ext cx="914400" cy="182880"/>
          </a:xfrm>
          <a:prstGeom prst="rect">
            <a:avLst/>
          </a:prstGeom>
          <a:noFill/>
        </p:spPr>
        <p:txBody>
          <a:bodyPr wrap="square" tIns="0" bIns="0" lIns="0" rIns="0">
            <a:spAutoFit/>
          </a:bodyPr>
          <a:lstStyle/>
          <a:p>
            <a:pPr>
              <a:defRPr sz="900" b="0">
                <a:solidFill>
                  <a:srgbClr val="596772"/>
                </a:solidFill>
                <a:latin typeface="Arial"/>
              </a:defRPr>
            </a:pPr>
            <a: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IMOBX | Partner discussion draft</dc:title>
  <dc:subject>Proposed Rio rent-to-own housing pilot</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